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JetBrains Mono"/>
      <p:regular r:id="rId21"/>
    </p:embeddedFont>
    <p:embeddedFont>
      <p:font typeface="Plus Jakarta Sans"/>
      <p:bold r:id="rId22"/>
    </p:embeddedFont>
    <p:embeddedFont>
      <p:font typeface="Trebuchet MS" panose="020B060302020202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3" d="100"/>
          <a:sy n="53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376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21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680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951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4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06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750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5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8957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27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3410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01304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8280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174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31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859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36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33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089532" y="1415625"/>
            <a:ext cx="4012934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0F172A"/>
                </a:solidFill>
                <a:latin typeface="Plus Jakarta Sans"/>
              </a:rPr>
              <a:t>ENGINEERING BLUEPRINT &amp;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296" y="1554124"/>
            <a:ext cx="11251406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sz="3600" b="1" i="0" u="none" dirty="0">
                <a:solidFill>
                  <a:srgbClr val="F8FAFC"/>
                </a:solidFill>
                <a:latin typeface="Plus Jakarta Sans"/>
              </a:rPr>
              <a:t>Smart Parking Space Detection &amp; Reservation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C2C478-BA95-6C06-40EA-0C4567ABA52D}"/>
              </a:ext>
            </a:extLst>
          </p:cNvPr>
          <p:cNvSpPr/>
          <p:nvPr/>
        </p:nvSpPr>
        <p:spPr>
          <a:xfrm>
            <a:off x="595086" y="4790916"/>
            <a:ext cx="4368800" cy="15953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V. Ngirinshut &amp; M. rugwiro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2743"/>
            <a:ext cx="3505200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343400" y="3009900"/>
            <a:ext cx="3505200" cy="1743075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077200" y="3009900"/>
            <a:ext cx="3505200" cy="1743075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384629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Project Vision &amp; Urban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Solving urban parking congestion and chaotic curb management in East Africa's commercial hubs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178968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The Urban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512343"/>
            <a:ext cx="31242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Rapid vehicle fleet expansion across commercial districts causes severe shortages of real-time parking discovery, resulting in fuel waste, severe traffic gridlock, and driver frustration.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286125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Our Strategic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619500"/>
            <a:ext cx="31242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An end-to-end intelligent detection and digital reservation platform integrating IoT sensors, ANPR cameras, and mobile web applications for frictionless booking.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286125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Target Deployment Hubs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619500"/>
            <a:ext cx="31242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Initial rollout across 10 high-density zones: Amahoro Stadium, CHIC Building, Kimironko Market, Kigali Heights, Convention Centre, and downtown commercial arteries.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00225"/>
            <a:ext cx="5372100" cy="1528762"/>
          </a:xfrm>
          <a:prstGeom prst="roundRect">
            <a:avLst>
              <a:gd name="adj" fmla="val 87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10300" y="1800225"/>
            <a:ext cx="5372100" cy="1528762"/>
          </a:xfrm>
          <a:prstGeom prst="roundRect">
            <a:avLst>
              <a:gd name="adj" fmla="val 87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09600" y="4433887"/>
            <a:ext cx="5372100" cy="1528762"/>
          </a:xfrm>
          <a:prstGeom prst="roundRect">
            <a:avLst>
              <a:gd name="adj" fmla="val 87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0300" y="4433887"/>
            <a:ext cx="5372100" cy="1528762"/>
          </a:xfrm>
          <a:prstGeom prst="roundRect">
            <a:avLst>
              <a:gd name="adj" fmla="val 87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114550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114550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748212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748212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Four-Tier User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Role-based architecture establishing precise permission boundaries and workflow specialization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076450"/>
            <a:ext cx="6425803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1. Drivers &amp; Commuters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409825"/>
            <a:ext cx="49911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Account creation, real-time slot finder, Google API geolocation, category &amp; vehicle selection, digital payments, 15-min extension alerts, and automated SMS ticketing.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2076450"/>
            <a:ext cx="5743575" cy="2190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2. Parking Owners (Investors)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409825"/>
            <a:ext cx="49911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Partial admin portal, custom rate setting, slot capacity expansion, occupancy analytics, revenue reporting, and event shuttle coordination.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710112"/>
            <a:ext cx="6425803" cy="21907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3. Event Hosters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043487"/>
            <a:ext cx="49911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Bulk parking reservation for stadiums/venues, customized attendee parking management, discounted package bargaining, and integrated shuttle transport.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4710112"/>
            <a:ext cx="5743575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4. Super Administrator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5043487"/>
            <a:ext cx="49911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Overall system controller, global rule enforcement, user permission auditing, dispute resolution, financial reconciliation, and platform configuration.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2743"/>
            <a:ext cx="2614612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395662" y="2795587"/>
            <a:ext cx="2614612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181725" y="2902743"/>
            <a:ext cx="2614612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967787" y="2688431"/>
            <a:ext cx="2614612" cy="2386012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Driver Workflow &amp; Real-Time Booking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Step-by-step end-to-end user experience from discovery to automated entry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78968"/>
            <a:ext cx="2806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1. Discovery &amp; GPS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12343"/>
            <a:ext cx="2233612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Landing page sensitization.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Account login/signup.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Google Maps API proximity check to nearest crowded parking area.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3787" y="3071812"/>
            <a:ext cx="2806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2. Slot &amp; Vehicle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3787" y="3405187"/>
            <a:ext cx="2233612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Select parking location.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Choose slot category (Economic, Business, Premium).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Select vehicle type (Small, SUV, Truck, Lorry).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3178968"/>
            <a:ext cx="2806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3. Payment &amp;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850" y="3512343"/>
            <a:ext cx="2233612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Input entry/exit hours.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Real-time price calculation.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Popup confirmation window with detailed itemized breakdown.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912" y="2964656"/>
            <a:ext cx="2806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4. Access &amp;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5912" y="3298031"/>
            <a:ext cx="2233612" cy="1500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Real-time ANPR plate scanning upon arrival.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Success messaging &amp; ticketing.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15-minute expiration/extension reminder notification.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2743"/>
            <a:ext cx="5372100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10300" y="2902743"/>
            <a:ext cx="5372100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Stakeholder Operations: Owners &amp; Event Hosters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Empowering investors with localized analytics and organizers with bulk facility reservations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178968"/>
            <a:ext cx="64258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Parking Owners (Partial Administrators)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12343"/>
            <a:ext cx="49911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Dedicated admin portal to monitor specific parking sites in real-time.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Live occupancy rate graphs, charts, and availability histograms.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Approval of digital payments and transaction reconciliations.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Slot capacity expansion management for newly built parking areas.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Custom regulation setting and special client service offerings.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3178968"/>
            <a:ext cx="5743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Event Hosters &amp; Facilities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512343"/>
            <a:ext cx="49911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Bulk parking reservation based on estimated event attendee counts.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Full venue coordination for stadiums, concerts, and conferences.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Discounted package bargaining for multi-facility bookings.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Integrated collective shuttle bus service coordination to transport attendees directly from parking hubs to event venues.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9900"/>
            <a:ext cx="3505200" cy="1743075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343400" y="2795587"/>
            <a:ext cx="3505200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077200" y="3116312"/>
            <a:ext cx="3505200" cy="1530250"/>
          </a:xfrm>
          <a:prstGeom prst="roundRect">
            <a:avLst>
              <a:gd name="adj" fmla="val 8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315325" y="3725912"/>
            <a:ext cx="3028950" cy="644425"/>
          </a:xfrm>
          <a:prstGeom prst="roundRect">
            <a:avLst>
              <a:gd name="adj" fmla="val 1182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Financial Engine &amp; Structured Pricing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Precise mathematical pricing rules combining vehicle dimensions and slot amenity tiers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86125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Vehicle Base Rates (Per Hour)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19500"/>
            <a:ext cx="31242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Small Sedan/Hatchback: </a:t>
            </a:r>
            <a:r>
              <a:rPr sz="1125" b="1" i="0" u="none" dirty="0">
                <a:solidFill>
                  <a:srgbClr val="475569"/>
                </a:solidFill>
                <a:latin typeface="Plus Jakarta Sans"/>
              </a:rPr>
              <a:t>2,000 RWF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SUV / Crossover: </a:t>
            </a:r>
            <a:r>
              <a:rPr sz="1125" b="1" i="0" u="none" dirty="0">
                <a:solidFill>
                  <a:srgbClr val="475569"/>
                </a:solidFill>
                <a:latin typeface="Plus Jakarta Sans"/>
              </a:rPr>
              <a:t>3,500 RWF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Coaster / Mini-Bus: </a:t>
            </a:r>
            <a:r>
              <a:rPr sz="1125" b="1" i="0" u="none" dirty="0">
                <a:solidFill>
                  <a:srgbClr val="475569"/>
                </a:solidFill>
                <a:latin typeface="Plus Jakarta Sans"/>
              </a:rPr>
              <a:t>6,000 RWF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Heavy Lorry / Truck: </a:t>
            </a:r>
            <a:r>
              <a:rPr sz="1125" b="1" i="0" u="none" dirty="0">
                <a:solidFill>
                  <a:srgbClr val="475569"/>
                </a:solidFill>
                <a:latin typeface="Plus Jakarta Sans"/>
              </a:rPr>
              <a:t>10,000 RWF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071812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Slot Category Surcharges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405187"/>
            <a:ext cx="31242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Economic Category: </a:t>
            </a:r>
            <a:r>
              <a:rPr sz="1125" b="1" i="0" u="none" dirty="0">
                <a:solidFill>
                  <a:srgbClr val="475569"/>
                </a:solidFill>
                <a:latin typeface="Plus Jakarta Sans"/>
              </a:rPr>
              <a:t>+0 RWF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(Standard open-air parking bay)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Business Category: </a:t>
            </a:r>
            <a:r>
              <a:rPr sz="1125" b="1" i="0" u="none" dirty="0">
                <a:solidFill>
                  <a:srgbClr val="475569"/>
                </a:solidFill>
                <a:latin typeface="Plus Jakarta Sans"/>
              </a:rPr>
              <a:t>+3,000 RWF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(Covered, secured &amp; reserved slots)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Premium Category: </a:t>
            </a:r>
            <a:r>
              <a:rPr sz="1125" b="1" i="0" u="none" dirty="0">
                <a:solidFill>
                  <a:srgbClr val="475569"/>
                </a:solidFill>
                <a:latin typeface="Plus Jakarta Sans"/>
              </a:rPr>
              <a:t>+10,000 RWF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(VIP protection &amp; car wash included)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392537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Revenue Calculation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9625" y="3840212"/>
            <a:ext cx="2895600" cy="41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475569"/>
                </a:solidFill>
                <a:latin typeface="JetBrains Mono"/>
              </a:rPr>
              <a:t>Total = (BaseRate</a:t>
            </a:r>
            <a:r>
              <a:rPr sz="812" b="0" i="0" u="none" dirty="0">
                <a:solidFill>
                  <a:srgbClr val="475569"/>
                </a:solidFill>
                <a:latin typeface="JetBrains Mono"/>
              </a:rPr>
              <a:t>vehicle</a:t>
            </a:r>
            <a:r>
              <a:rPr sz="975" b="0" i="0" u="none" dirty="0">
                <a:solidFill>
                  <a:srgbClr val="475569"/>
                </a:solidFill>
                <a:latin typeface="JetBrains Mono"/>
              </a:rPr>
              <a:t> + Surcharge</a:t>
            </a:r>
            <a:r>
              <a:rPr sz="812" b="0" i="0" u="none" dirty="0">
                <a:solidFill>
                  <a:srgbClr val="475569"/>
                </a:solidFill>
                <a:latin typeface="JetBrains Mono"/>
              </a:rPr>
              <a:t>category</a:t>
            </a:r>
            <a:r>
              <a:rPr sz="975" b="0" i="0" u="none" dirty="0">
                <a:solidFill>
                  <a:srgbClr val="475569"/>
                </a:solidFill>
                <a:latin typeface="JetBrains Mono"/>
              </a:rPr>
              <a:t>) × Duration</a:t>
            </a:r>
            <a:r>
              <a:rPr sz="812" b="0" i="0" u="none" dirty="0">
                <a:solidFill>
                  <a:srgbClr val="475569"/>
                </a:solidFill>
                <a:latin typeface="JetBrains Mono"/>
              </a:rPr>
              <a:t>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2743"/>
            <a:ext cx="3505200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343400" y="2902743"/>
            <a:ext cx="3505200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077200" y="2902743"/>
            <a:ext cx="3505200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15+ Interactive System Pages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Complete modular layout ensuring smooth navigation, rich drop-downs, quick settings, and boxed dashboard layouts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178968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Public &amp; Driver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512343"/>
            <a:ext cx="31242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1. Landing &amp; Sensitization Page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2. Driver Registration &amp; Login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3. Interactive Map &amp; Slot Finder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4. Booking &amp; Reservation Dashboard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5. Real-Time Payment &amp; 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178968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Owner &amp; Event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512343"/>
            <a:ext cx="31242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6. Parking Owner Portal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7. Occupancy Analytics &amp; Graphs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8. Slot &amp; Rate Configuration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9. Event Hoster Bulk Reservation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10. Shuttle Transport Coordinator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178968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Admin &amp; System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512343"/>
            <a:ext cx="31242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11. Super Admin Control Center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12. ANPR License Plate Log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13. Financial Reconciliation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14. User Management &amp; Audit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15. Quick Settings &amp; System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2743"/>
            <a:ext cx="5372100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10300" y="2795587"/>
            <a:ext cx="5372100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AI Integration I: Computer Vision &amp; ANPR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Automated license trust, gate security, and instant vehicle classification at entry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178968"/>
            <a:ext cx="64258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Automatic Number Plate Recognition (ANPR)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12343"/>
            <a:ext cx="49911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High-speed optical camera feeds capturing incoming vehicle plates.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Deep learning character extraction (YOLOv8 + OCR pipelines) matching plates against active Django booking database.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Zero-touch gate opening for valid reservations, preventing unauthorized parkers and revenue leaks.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3071812"/>
            <a:ext cx="5743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Optical Vehicle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405187"/>
            <a:ext cx="49911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Real-time AI classification distinguishing small sedans from SUVs, coasters, and heavy lorries.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Automatic adjustment of base pricing rules based on detected vehicle footprint.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Anomaly detection flagging mismatched plates or overstayed durations.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5587"/>
            <a:ext cx="5372100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10300" y="2902743"/>
            <a:ext cx="5372100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AI Integration II: Predictive Occupancy &amp; Smart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Machine learning forecasting models optimizing urban space allocation and traffic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071812"/>
            <a:ext cx="64258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Predictive Occupancy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05187"/>
            <a:ext cx="49911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Time-series machine learning models (ARIMA / LSTM) predicting parking saturation hours ahead.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Analyzing historical event calendars (Amahoro stadium matches, market days).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Proactive driver recommendations for alternate available parking lots during peak gridlock.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3178968"/>
            <a:ext cx="5743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Smart GIS Routing &amp; Traffic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512343"/>
            <a:ext cx="49911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Integration with Google Maps API and real-time traffic telemetry.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Dynamic route guidance directing drivers to the optimal slot category nearest to their destination.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Automated shuttle bus scheduling algorithms balancing attendee transit loads for event hosters.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5587"/>
            <a:ext cx="5372100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10300" y="2795587"/>
            <a:ext cx="5372100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Technical Architecture &amp; Python/Django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Robust backend engineering ensuring high concurrency, data security, and lightning-fast spatial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071812"/>
            <a:ext cx="64258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Backend &amp; Database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05187"/>
            <a:ext cx="49911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Built entirely in Python using the Django MVT (Model-View-Template) framework.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PostgreSQL relational database with PostGIS extensions for advanced geospatial slot indexing.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Redis caching layer managing real-time slot locking during high-frequency concurrent bookings.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3071812"/>
            <a:ext cx="5743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Security &amp; 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405187"/>
            <a:ext cx="49911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Role-Based Access Control (RBAC) separating driver, owner, event host, and admin privileges.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Secure token-based authentication and encrypted payment gateway integration.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RESTful API architecture ready for mobile app expansion (iOS &amp; Android).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4362" y="3209925"/>
            <a:ext cx="1243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57821" y="3209925"/>
            <a:ext cx="3359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217765" y="3209925"/>
            <a:ext cx="24361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653932" y="3209925"/>
            <a:ext cx="3923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14362" y="3657600"/>
            <a:ext cx="1243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857821" y="3657600"/>
            <a:ext cx="3359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5217765" y="3657600"/>
            <a:ext cx="24361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7653932" y="3657600"/>
            <a:ext cx="3923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14362" y="4105275"/>
            <a:ext cx="1243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1857821" y="4105275"/>
            <a:ext cx="3359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5217765" y="4105275"/>
            <a:ext cx="24361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7653932" y="4105275"/>
            <a:ext cx="3923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14362" y="4552950"/>
            <a:ext cx="1243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857821" y="4552950"/>
            <a:ext cx="3359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5217765" y="4552950"/>
            <a:ext cx="24361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7653932" y="4552950"/>
            <a:ext cx="3923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09600" y="2757487"/>
            <a:ext cx="10972800" cy="2247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600" y="2757487"/>
          <a:ext cx="10963272" cy="2247900"/>
        </p:xfrm>
        <a:graphic>
          <a:graphicData uri="http://schemas.openxmlformats.org/drawingml/2006/table">
            <a:tbl>
              <a:tblPr/>
              <a:tblGrid>
                <a:gridCol w="12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9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6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Entity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Primary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Relationships &amp; Constraints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Dataset Model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User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user_id, name, email, phone,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1-to-Many with Bookings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Stores driver, owner, and admin credentials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ParkingSite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site_id, name, location_lat_lng, total_slots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1-to-Many with Slots &amp; Owners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Defines physical parking locations in Kigali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ParkingSlot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slot_id, site_id, category,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Many-to-1 with ParkingSite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Tracks real-time economic, business, or VIP slots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Booking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booking_id, user_id, slot_id, hours, total_fee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Many-to-1 with User &amp; Slot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Records active and historical reservation transactions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System Modeling: ERD, UML &amp; Dataset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Relational database modeling and structured baseline datasets powering system construction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2743"/>
            <a:ext cx="2614612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3395662" y="2902743"/>
            <a:ext cx="2614612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181725" y="2795587"/>
            <a:ext cx="2614612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967787" y="2902743"/>
            <a:ext cx="2614612" cy="1957387"/>
          </a:xfrm>
          <a:prstGeom prst="roundRect">
            <a:avLst>
              <a:gd name="adj" fmla="val 68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Deployment Roadmap &amp; Phased Rollout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Strategic implementation plan transitioning from pilot testing to metropolitan-wide scaling across Kigali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78968"/>
            <a:ext cx="2806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Phase 1: Pilot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12343"/>
            <a:ext cx="2233612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Deployment across 3 pilot locations (CHIC, Kimironko, Amahoro).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Core Django backend and driver booking portal release.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3787" y="3178968"/>
            <a:ext cx="2806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Phase 2: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3787" y="3512343"/>
            <a:ext cx="2233612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Integration of parking owner partial portals.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Event hoster bulk reservation module deployment and shuttle coordination.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3071812"/>
            <a:ext cx="2806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Phase 3: AI &amp; ANPR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850" y="3405187"/>
            <a:ext cx="2233612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Installation of computer vision cameras at entry/exit gates.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Automated plate scanning and predictive occupancy modeling activation.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912" y="3178968"/>
            <a:ext cx="2806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Phase 4: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5912" y="3512343"/>
            <a:ext cx="2233612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Expansion to all 10 major Kigali commercial hubs.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Mobile app launch (iOS/Android) and advanced GIS route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5587"/>
            <a:ext cx="3505200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343400" y="2688431"/>
            <a:ext cx="3505200" cy="2386012"/>
          </a:xfrm>
          <a:prstGeom prst="roundRect">
            <a:avLst>
              <a:gd name="adj" fmla="val 55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077200" y="3009900"/>
            <a:ext cx="3505200" cy="1743075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Economic, Environmental &amp; Social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763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Measurable value creation for drivers, parking investors, municipal authorities, and urban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071812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For Drivers &amp; Commuters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05187"/>
            <a:ext cx="31242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70% reduction in time spent searching for parking spaces.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Guaranteed reservation security and transparent, predictable pricing.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Stress-free event attendance with integrated shuttle services.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2964656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For Parking 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298031"/>
            <a:ext cx="3124200" cy="1500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Elimination of revenue leakage through automated digital payments and ANPR logging.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Real-time occupancy analytics maximizing revenue yield per slot.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Simplified management of special event bookings and tier upgrades.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286125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For City &amp;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619500"/>
            <a:ext cx="31242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• Significant decrease in traffic congestion and idle vehicle emissions in Kigali.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Plus Jakarta Sans"/>
              </a:rPr>
              <a:t> • Optimized land use and data-driven urban planning insights for municipal authorities.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0296" y="2476500"/>
            <a:ext cx="11251406" cy="4488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sz="3000" b="1" i="0" u="none" dirty="0">
                <a:solidFill>
                  <a:srgbClr val="F8FAFC"/>
                </a:solidFill>
                <a:latin typeface="Plus Jakarta Sans"/>
              </a:rPr>
              <a:t>System </a:t>
            </a:r>
            <a:r>
              <a:rPr lang="en-US" sz="3000" b="1" dirty="0">
                <a:solidFill>
                  <a:srgbClr val="F8FAFC"/>
                </a:solidFill>
                <a:latin typeface="Plus Jakarta Sans"/>
              </a:rPr>
              <a:t>drafting</a:t>
            </a:r>
            <a:r>
              <a:rPr sz="3000" b="1" i="0" u="none" dirty="0">
                <a:solidFill>
                  <a:srgbClr val="F8FAFC"/>
                </a:solidFill>
                <a:latin typeface="Plus Jakarta Sans"/>
              </a:rPr>
              <a:t> &amp; Database Modeling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467100"/>
            <a:ext cx="95250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The Smart Parking Space Detection &amp; Reservation System bridges cutting-edge Python/Django architecture, vision, and robust relational database design to solve urban mobility challenges in Kigali.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1609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Plus Jakarta Sans</vt:lpstr>
      <vt:lpstr>Trebuchet MS</vt:lpstr>
      <vt:lpstr>Arial</vt:lpstr>
      <vt:lpstr>JetBrains Mono</vt:lpstr>
      <vt:lpstr>Calibri</vt:lpstr>
      <vt:lpstr>Office Theme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Antally 🇷🇼</dc:creator>
  <cp:keywords/>
  <dc:description>generated using python-pptx</dc:description>
  <cp:lastModifiedBy>Antally NGIRINSHUTI</cp:lastModifiedBy>
  <cp:revision>2</cp:revision>
  <dcterms:created xsi:type="dcterms:W3CDTF">2013-01-27T09:14:16Z</dcterms:created>
  <dcterms:modified xsi:type="dcterms:W3CDTF">2026-10-15T14:11:20Z</dcterms:modified>
  <cp:category/>
</cp:coreProperties>
</file>